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70" r:id="rId14"/>
    <p:sldId id="265" r:id="rId15"/>
  </p:sldIdLst>
  <p:sldSz cx="18288000" cy="10287000"/>
  <p:notesSz cx="6858000" cy="9144000"/>
  <p:embeddedFontLst>
    <p:embeddedFont>
      <p:font typeface="Bookman Old Style" panose="02050604050505020204" pitchFamily="18" charset="0"/>
      <p:regular r:id="rId16"/>
      <p:bold r:id="rId17"/>
      <p:italic r:id="rId18"/>
      <p:boldItalic r:id="rId19"/>
    </p:embeddedFont>
    <p:embeddedFont>
      <p:font typeface="Cambria" panose="02040503050406030204" pitchFamily="18" charset="0"/>
      <p:regular r:id="rId20"/>
      <p:bold r:id="rId21"/>
      <p:italic r:id="rId22"/>
      <p:boldItalic r:id="rId23"/>
    </p:embeddedFont>
    <p:embeddedFont>
      <p:font typeface="Gotham" panose="020B0604020202020204" charset="0"/>
      <p:regular r:id="rId24"/>
    </p:embeddedFont>
    <p:embeddedFont>
      <p:font typeface="Gotham Bold Italics" panose="020B0604020202020204" charset="0"/>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38" d="100"/>
          <a:sy n="38" d="100"/>
        </p:scale>
        <p:origin x="24" y="53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4/24/2026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23" name="Picture 22"/>
          <p:cNvPicPr>
            <a:picLocks noChangeAspect="1"/>
          </p:cNvPicPr>
          <p:nvPr/>
        </p:nvPicPr>
        <p:blipFill>
          <a:blip r:embed="rId2"/>
          <a:stretch>
            <a:fillRect/>
          </a:stretch>
        </p:blipFill>
        <p:spPr>
          <a:xfrm>
            <a:off x="6767876" y="86024"/>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3235"/>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24-04-26</a:t>
            </a:r>
          </a:p>
        </p:txBody>
      </p:sp>
      <p:sp>
        <p:nvSpPr>
          <p:cNvPr id="13" name="TextBox 12"/>
          <p:cNvSpPr txBox="1"/>
          <p:nvPr/>
        </p:nvSpPr>
        <p:spPr>
          <a:xfrm>
            <a:off x="1501640" y="5813022"/>
            <a:ext cx="15784162"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Job Portal Management System</a:t>
            </a:r>
            <a:endParaRPr lang="en-IN" sz="36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V Prajeeth Preetham – VTU26554 – Reg.No.23UECS0919</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a:t>
            </a:r>
            <a:r>
              <a:rPr lang="en-US" sz="3000" dirty="0" err="1">
                <a:latin typeface="Cambria" panose="02040503050406030204" pitchFamily="18" charset="0"/>
                <a:ea typeface="Cambria" panose="02040503050406030204" pitchFamily="18" charset="0"/>
              </a:rPr>
              <a:t>XArogya</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Presskila</a:t>
            </a:r>
            <a:r>
              <a:rPr lang="en-US" sz="3000" dirty="0">
                <a:latin typeface="Cambria" panose="02040503050406030204" pitchFamily="18" charset="0"/>
                <a:ea typeface="Cambria" panose="02040503050406030204" pitchFamily="18" charset="0"/>
              </a:rPr>
              <a:t> – </a:t>
            </a:r>
            <a:r>
              <a:rPr lang="en-US" sz="3000" dirty="0" err="1">
                <a:latin typeface="Cambria" panose="02040503050406030204" pitchFamily="18" charset="0"/>
                <a:ea typeface="Cambria" panose="02040503050406030204" pitchFamily="18" charset="0"/>
              </a:rPr>
              <a:t>B.E,M.E,Ph.D</a:t>
            </a:r>
            <a:r>
              <a:rPr lang="en-US" sz="3000" dirty="0">
                <a:latin typeface="Cambria" panose="02040503050406030204" pitchFamily="18" charset="0"/>
                <a:ea typeface="Cambria" panose="02040503050406030204" pitchFamily="18" charset="0"/>
              </a:rPr>
              <a:t>.,</a:t>
            </a: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p:cNvSpPr txBox="1"/>
          <p:nvPr/>
        </p:nvSpPr>
        <p:spPr>
          <a:xfrm>
            <a:off x="76200" y="348557"/>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Rectangle 1"/>
          <p:cNvSpPr>
            <a:spLocks noChangeArrowheads="1"/>
          </p:cNvSpPr>
          <p:nvPr/>
        </p:nvSpPr>
        <p:spPr bwMode="auto">
          <a:xfrm>
            <a:off x="1791588" y="4178506"/>
            <a:ext cx="248786"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6" name="Rectangle 2">
            <a:extLst>
              <a:ext uri="{FF2B5EF4-FFF2-40B4-BE49-F238E27FC236}">
                <a16:creationId xmlns:a16="http://schemas.microsoft.com/office/drawing/2014/main" id="{2194FAC3-CFE6-1A05-40D1-6BBEEAEE5692}"/>
              </a:ext>
            </a:extLst>
          </p:cNvPr>
          <p:cNvSpPr>
            <a:spLocks noChangeArrowheads="1"/>
          </p:cNvSpPr>
          <p:nvPr/>
        </p:nvSpPr>
        <p:spPr bwMode="auto">
          <a:xfrm>
            <a:off x="0" y="2014836"/>
            <a:ext cx="2648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DDA28D26-E798-6BA4-CFA2-A602AE9BF527}"/>
              </a:ext>
            </a:extLst>
          </p:cNvPr>
          <p:cNvSpPr>
            <a:spLocks noChangeArrowheads="1"/>
          </p:cNvSpPr>
          <p:nvPr/>
        </p:nvSpPr>
        <p:spPr bwMode="auto">
          <a:xfrm>
            <a:off x="1915981" y="1301288"/>
            <a:ext cx="15343319" cy="6678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Recruitment is a critical process in every organization, but traditional hiring methods are often slow, inefficient, and geographically limited.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the rise of digital transformation, job portals have become essential platforms that bridge the gap between job seekers and employers.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job portal system enables candidates to search for jobs, upload resumes, and apply instantly, while recruiters can post vacancies and manage applications efficiently.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aims to design and develop a </a:t>
            </a: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full-stack job portal system</a:t>
            </a: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provides real-time interaction, secure authentication, and seamless data handling.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ensures accessibility, scalability, and improved hiring efficiency for both users and organizations.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176975" y="1749010"/>
            <a:ext cx="15082325" cy="6555641"/>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8CF83BEE-ACA8-122A-0982-5A2395EE8CED}"/>
              </a:ext>
            </a:extLst>
          </p:cNvPr>
          <p:cNvSpPr>
            <a:spLocks noChangeArrowheads="1"/>
          </p:cNvSpPr>
          <p:nvPr/>
        </p:nvSpPr>
        <p:spPr bwMode="auto">
          <a:xfrm>
            <a:off x="1965302" y="1887509"/>
            <a:ext cx="14596463" cy="6278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recruitment relies heavily on manual processes, leading to delays and inefficiencies.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Job seekers often struggle to find relevant opportunities due to scattered job listings across platforms.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Recruiters face difficulty in managing large volumes of applications without a centralized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real-time communication between candidates and employers causes delays in hiring decisions.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inconsistency and absence of proper tracking mechanisms reduce transparency in the recruitment process.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need for a </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automated, and scalable job portal system</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streamline recruitment activities.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2" name="TextBox 51"/>
          <p:cNvSpPr txBox="1"/>
          <p:nvPr/>
        </p:nvSpPr>
        <p:spPr>
          <a:xfrm>
            <a:off x="2209800" y="1638300"/>
            <a:ext cx="15082325" cy="3539430"/>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E8DEFB23-856A-A620-57F0-C23E005E398F}"/>
              </a:ext>
            </a:extLst>
          </p:cNvPr>
          <p:cNvSpPr>
            <a:spLocks noChangeArrowheads="1"/>
          </p:cNvSpPr>
          <p:nvPr/>
        </p:nvSpPr>
        <p:spPr bwMode="auto">
          <a:xfrm>
            <a:off x="2091356" y="2303717"/>
            <a:ext cx="1280322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3600" b="1" dirty="0">
                <a:latin typeface="Times New Roman" panose="02020603050405020304" pitchFamily="18" charset="0"/>
                <a:cs typeface="Times New Roman" panose="02020603050405020304" pitchFamily="18" charset="0"/>
              </a:rPr>
              <a:t>Project Objectives: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and develop a </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full-stack job portal application</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implement secure user authentication for both recruiters and job seekers.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enable recruiters to post, update, and manage job listings efficiently.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allow candidates to search, filter, and apply for jobs in real time.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store and manage data using a structured database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ensure scalability and responsiveness across multiple devices.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13634502"/>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PROPOSED SYSTEM</a:t>
            </a:r>
          </a:p>
          <a:p>
            <a:endParaRPr lang="en-US" sz="28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proposed system is a </a:t>
            </a:r>
            <a:r>
              <a:rPr lang="en-US" sz="2800" b="1" dirty="0">
                <a:latin typeface="Times New Roman" panose="02020603050405020304" pitchFamily="18" charset="0"/>
                <a:cs typeface="Times New Roman" panose="02020603050405020304" pitchFamily="18" charset="0"/>
              </a:rPr>
              <a:t>web-based job portal</a:t>
            </a:r>
            <a:r>
              <a:rPr lang="en-US" sz="2800" dirty="0">
                <a:latin typeface="Times New Roman" panose="02020603050405020304" pitchFamily="18" charset="0"/>
                <a:cs typeface="Times New Roman" panose="02020603050405020304" pitchFamily="18" charset="0"/>
              </a:rPr>
              <a:t> that automates the entire recruitment process.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provides a centralized platform where recruiters can post job openings and candidates can apply instantly.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uses a </a:t>
            </a:r>
            <a:r>
              <a:rPr lang="en-US" sz="2800" b="1" dirty="0">
                <a:latin typeface="Times New Roman" panose="02020603050405020304" pitchFamily="18" charset="0"/>
                <a:cs typeface="Times New Roman" panose="02020603050405020304" pitchFamily="18" charset="0"/>
              </a:rPr>
              <a:t>database-driven architecture</a:t>
            </a:r>
            <a:r>
              <a:rPr lang="en-US" sz="2800" dirty="0">
                <a:latin typeface="Times New Roman" panose="02020603050405020304" pitchFamily="18" charset="0"/>
                <a:cs typeface="Times New Roman" panose="02020603050405020304" pitchFamily="18" charset="0"/>
              </a:rPr>
              <a:t> to store user profiles, job listings, and application data.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includes a secure login system to protect sensitive user information.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Real-time updates ensure that users receive the latest job opportunities and application statuses.</a:t>
            </a:r>
          </a:p>
          <a:p>
            <a:r>
              <a:rPr lang="en-US" sz="3600" b="1" dirty="0">
                <a:latin typeface="Times New Roman" panose="02020603050405020304" pitchFamily="18" charset="0"/>
                <a:cs typeface="Times New Roman" panose="02020603050405020304" pitchFamily="18" charset="0"/>
              </a:rPr>
              <a:t>Advantages</a:t>
            </a:r>
          </a:p>
          <a:p>
            <a:endParaRPr lang="en-US" sz="36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Eliminates manual paperwork and reduces hiring time.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Provides global access to job opportunities.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Enhances data accuracy and consistency.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Improves communication between recruiters and candidates.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Enables efficient tracking of applications and hiring progress.</a:t>
            </a:r>
          </a:p>
          <a:p>
            <a:endParaRPr lang="en-US" sz="2800" dirty="0">
              <a:latin typeface="Times New Roman" panose="02020603050405020304" pitchFamily="18" charset="0"/>
              <a:cs typeface="Times New Roman" panose="02020603050405020304" pitchFamily="18" charset="0"/>
            </a:endParaRPr>
          </a:p>
          <a:p>
            <a:pPr lvl="1"/>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p:cNvSpPr txBox="1"/>
          <p:nvPr/>
        </p:nvSpPr>
        <p:spPr>
          <a:xfrm>
            <a:off x="0" y="80730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p:cNvSpPr>
            <a:spLocks noChangeArrowheads="1"/>
          </p:cNvSpPr>
          <p:nvPr/>
        </p:nvSpPr>
        <p:spPr bwMode="auto">
          <a:xfrm>
            <a:off x="1701820" y="2020860"/>
            <a:ext cx="10654598"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IN" sz="2800" b="1" dirty="0">
                <a:latin typeface="Times New Roman" panose="02020603050405020304" pitchFamily="18" charset="0"/>
                <a:cs typeface="Times New Roman" panose="02020603050405020304" pitchFamily="18" charset="0"/>
              </a:rPr>
              <a:t>1. Presentation Layer (Frontend)</a:t>
            </a:r>
          </a:p>
          <a:p>
            <a:r>
              <a:rPr lang="en-IN" sz="2800" dirty="0">
                <a:latin typeface="Times New Roman" panose="02020603050405020304" pitchFamily="18" charset="0"/>
                <a:cs typeface="Times New Roman" panose="02020603050405020304" pitchFamily="18" charset="0"/>
              </a:rPr>
              <a:t>Developed using HTML, CSS, JavaScript (or React). </a:t>
            </a:r>
          </a:p>
          <a:p>
            <a:r>
              <a:rPr lang="en-IN" sz="2800" dirty="0">
                <a:latin typeface="Times New Roman" panose="02020603050405020304" pitchFamily="18" charset="0"/>
                <a:cs typeface="Times New Roman" panose="02020603050405020304" pitchFamily="18" charset="0"/>
              </a:rPr>
              <a:t>Provides interactive UI for users. </a:t>
            </a:r>
          </a:p>
          <a:p>
            <a:r>
              <a:rPr lang="en-IN" sz="2800" dirty="0">
                <a:latin typeface="Times New Roman" panose="02020603050405020304" pitchFamily="18" charset="0"/>
                <a:cs typeface="Times New Roman" panose="02020603050405020304" pitchFamily="18" charset="0"/>
              </a:rPr>
              <a:t>Handles user input and displays results dynamically. </a:t>
            </a:r>
          </a:p>
          <a:p>
            <a:r>
              <a:rPr lang="en-IN" sz="2800" b="1" dirty="0">
                <a:latin typeface="Times New Roman" panose="02020603050405020304" pitchFamily="18" charset="0"/>
                <a:cs typeface="Times New Roman" panose="02020603050405020304" pitchFamily="18" charset="0"/>
              </a:rPr>
              <a:t>2. Application Layer (Backend)</a:t>
            </a:r>
          </a:p>
          <a:p>
            <a:r>
              <a:rPr lang="en-IN" sz="2800" dirty="0">
                <a:latin typeface="Times New Roman" panose="02020603050405020304" pitchFamily="18" charset="0"/>
                <a:cs typeface="Times New Roman" panose="02020603050405020304" pitchFamily="18" charset="0"/>
              </a:rPr>
              <a:t>Implemented using Java (Spring Boot) or Node.js. </a:t>
            </a:r>
          </a:p>
          <a:p>
            <a:r>
              <a:rPr lang="en-IN" sz="2800" dirty="0">
                <a:latin typeface="Times New Roman" panose="02020603050405020304" pitchFamily="18" charset="0"/>
                <a:cs typeface="Times New Roman" panose="02020603050405020304" pitchFamily="18" charset="0"/>
              </a:rPr>
              <a:t>Handles business logic such as authentication, job processing, and application handling. </a:t>
            </a:r>
          </a:p>
          <a:p>
            <a:r>
              <a:rPr lang="en-IN" sz="2800" b="1" dirty="0">
                <a:latin typeface="Times New Roman" panose="02020603050405020304" pitchFamily="18" charset="0"/>
                <a:cs typeface="Times New Roman" panose="02020603050405020304" pitchFamily="18" charset="0"/>
              </a:rPr>
              <a:t>3. Data Layer (Database)</a:t>
            </a:r>
          </a:p>
          <a:p>
            <a:r>
              <a:rPr lang="en-IN" sz="2800" dirty="0">
                <a:latin typeface="Times New Roman" panose="02020603050405020304" pitchFamily="18" charset="0"/>
                <a:cs typeface="Times New Roman" panose="02020603050405020304" pitchFamily="18" charset="0"/>
              </a:rPr>
              <a:t>Uses MySQL or MongoDB for data storage. </a:t>
            </a:r>
          </a:p>
          <a:p>
            <a:r>
              <a:rPr lang="en-IN" sz="2800" dirty="0">
                <a:latin typeface="Times New Roman" panose="02020603050405020304" pitchFamily="18" charset="0"/>
                <a:cs typeface="Times New Roman" panose="02020603050405020304" pitchFamily="18" charset="0"/>
              </a:rPr>
              <a:t>Stores user data, job postings, and applications. </a:t>
            </a:r>
          </a:p>
          <a:p>
            <a:r>
              <a:rPr lang="en-IN" sz="2800" b="1" dirty="0">
                <a:latin typeface="Times New Roman" panose="02020603050405020304" pitchFamily="18" charset="0"/>
                <a:cs typeface="Times New Roman" panose="02020603050405020304" pitchFamily="18" charset="0"/>
              </a:rPr>
              <a:t>Data Flow</a:t>
            </a:r>
          </a:p>
          <a:p>
            <a:r>
              <a:rPr lang="en-IN" sz="2800" dirty="0">
                <a:latin typeface="Times New Roman" panose="02020603050405020304" pitchFamily="18" charset="0"/>
                <a:cs typeface="Times New Roman" panose="02020603050405020304" pitchFamily="18" charset="0"/>
              </a:rPr>
              <a:t>User → Frontend → Backend → Database → Backend → Frontend</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p:blipFill>
        <p:spPr>
          <a:xfrm>
            <a:off x="11582400" y="1914810"/>
            <a:ext cx="6705599" cy="68862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1905000" y="6874898"/>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FBB989F9-72FF-B55D-9041-443038399F99}"/>
              </a:ext>
            </a:extLst>
          </p:cNvPr>
          <p:cNvSpPr>
            <a:spLocks noChangeArrowheads="1"/>
          </p:cNvSpPr>
          <p:nvPr/>
        </p:nvSpPr>
        <p:spPr bwMode="auto">
          <a:xfrm>
            <a:off x="2057400" y="1008054"/>
            <a:ext cx="12573000" cy="5601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registers as Job Seeker or Recruiter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logs into the system securely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Recruiter posts job openings with required details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Job seeker searches and filters jobs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Candidate applies by submitting resume/details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 is stored in the database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Recruiter reviews applications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Status is updated (Selected/Rejected/Pending) </a:t>
            </a:r>
          </a:p>
        </p:txBody>
      </p:sp>
      <p:pic>
        <p:nvPicPr>
          <p:cNvPr id="6" name="Picture 5">
            <a:extLst>
              <a:ext uri="{FF2B5EF4-FFF2-40B4-BE49-F238E27FC236}">
                <a16:creationId xmlns:a16="http://schemas.microsoft.com/office/drawing/2014/main" id="{31723322-F086-D573-F4A9-2D14D85350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2600" y="1488878"/>
            <a:ext cx="8724900" cy="72360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1780771" y="2028279"/>
            <a:ext cx="16314980" cy="7124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IN" sz="2800" b="1" dirty="0">
                <a:latin typeface="Times New Roman" panose="02020603050405020304" pitchFamily="18" charset="0"/>
                <a:cs typeface="Times New Roman" panose="02020603050405020304" pitchFamily="18" charset="0"/>
              </a:rPr>
              <a:t>Frontend</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HTML5 – Structure of web pages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CSS3 – Styling and responsiveness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JavaScript – Dynamic </a:t>
            </a:r>
            <a:r>
              <a:rPr lang="en-IN" sz="2800" dirty="0" err="1">
                <a:latin typeface="Times New Roman" panose="02020603050405020304" pitchFamily="18" charset="0"/>
                <a:cs typeface="Times New Roman" panose="02020603050405020304" pitchFamily="18" charset="0"/>
              </a:rPr>
              <a:t>behavior</a:t>
            </a:r>
            <a:r>
              <a:rPr lang="en-IN" sz="2800" dirty="0">
                <a:latin typeface="Times New Roman" panose="02020603050405020304" pitchFamily="18" charset="0"/>
                <a:cs typeface="Times New Roman" panose="02020603050405020304" pitchFamily="18" charset="0"/>
              </a:rPr>
              <a:t> and validation </a:t>
            </a:r>
          </a:p>
          <a:p>
            <a:r>
              <a:rPr lang="en-IN" sz="2800" b="1" dirty="0">
                <a:latin typeface="Times New Roman" panose="02020603050405020304" pitchFamily="18" charset="0"/>
                <a:cs typeface="Times New Roman" panose="02020603050405020304" pitchFamily="18" charset="0"/>
              </a:rPr>
              <a:t>Backend</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Java (Spring Boot) / Node.js – Server-side logic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REST APIs – Communication between frontend and backend </a:t>
            </a:r>
          </a:p>
          <a:p>
            <a:r>
              <a:rPr lang="en-IN" sz="2800" b="1" dirty="0">
                <a:latin typeface="Times New Roman" panose="02020603050405020304" pitchFamily="18" charset="0"/>
                <a:cs typeface="Times New Roman" panose="02020603050405020304" pitchFamily="18" charset="0"/>
              </a:rPr>
              <a:t>Database</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MySQL – Relational database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MongoDB – NoSQL database (optional) </a:t>
            </a:r>
          </a:p>
          <a:p>
            <a:r>
              <a:rPr lang="en-IN" sz="2800" b="1" dirty="0">
                <a:latin typeface="Times New Roman" panose="02020603050405020304" pitchFamily="18" charset="0"/>
                <a:cs typeface="Times New Roman" panose="02020603050405020304" pitchFamily="18" charset="0"/>
              </a:rPr>
              <a:t>Tools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VS Code / Eclipse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Git &amp; GitHub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Postman (API testing)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Chrome DevTools</a:t>
            </a:r>
          </a:p>
          <a:p>
            <a:pPr marL="0" marR="0" lvl="0" indent="0" algn="l" defTabSz="914400" rtl="0" eaLnBrk="0" fontAlgn="base" latinLnBrk="0" hangingPunct="0">
              <a:lnSpc>
                <a:spcPct val="150000"/>
              </a:lnSpc>
              <a:spcBef>
                <a:spcPct val="0"/>
              </a:spcBef>
              <a:spcAft>
                <a:spcPct val="0"/>
              </a:spcAft>
              <a:buClrTx/>
              <a:buSzTx/>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10495181"/>
          </a:xfrm>
          <a:prstGeom prst="rect">
            <a:avLst/>
          </a:prstGeom>
          <a:noFill/>
        </p:spPr>
        <p:txBody>
          <a:bodyPr wrap="square" rtlCol="0">
            <a:spAutoFit/>
          </a:bodyPr>
          <a:lstStyle/>
          <a:p>
            <a:r>
              <a:rPr lang="en-US" sz="3200" b="1" dirty="0"/>
              <a:t>1. </a:t>
            </a:r>
            <a:r>
              <a:rPr lang="en-US" sz="3200" b="1" dirty="0">
                <a:latin typeface="Times New Roman" panose="02020603050405020304" pitchFamily="18" charset="0"/>
                <a:cs typeface="Times New Roman" panose="02020603050405020304" pitchFamily="18" charset="0"/>
              </a:rPr>
              <a:t>User Module</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Handles registration and login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Maintains user profiles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Ensures authentication and authorization </a:t>
            </a:r>
          </a:p>
          <a:p>
            <a:r>
              <a:rPr lang="en-US" sz="3200" b="1" dirty="0">
                <a:latin typeface="Times New Roman" panose="02020603050405020304" pitchFamily="18" charset="0"/>
                <a:cs typeface="Times New Roman" panose="02020603050405020304" pitchFamily="18" charset="0"/>
              </a:rPr>
              <a:t>2. Job Management Module</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Allows recruiters to post, edit, and delete jobs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Displays job listings dynamically </a:t>
            </a:r>
          </a:p>
          <a:p>
            <a:r>
              <a:rPr lang="en-US" sz="3200" b="1" dirty="0">
                <a:latin typeface="Times New Roman" panose="02020603050405020304" pitchFamily="18" charset="0"/>
                <a:cs typeface="Times New Roman" panose="02020603050405020304" pitchFamily="18" charset="0"/>
              </a:rPr>
              <a:t>3. Application Module</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Enables candidates to apply for jobs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Tracks application status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Stores resume and user data </a:t>
            </a:r>
          </a:p>
          <a:p>
            <a:r>
              <a:rPr lang="en-US" sz="3200" b="1" dirty="0">
                <a:latin typeface="Times New Roman" panose="02020603050405020304" pitchFamily="18" charset="0"/>
                <a:cs typeface="Times New Roman" panose="02020603050405020304" pitchFamily="18" charset="0"/>
              </a:rPr>
              <a:t>4. Admin Module</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Manages users and job postings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Monitors system activity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Ensures data integrity </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1914060" y="1477107"/>
            <a:ext cx="15082325" cy="852541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Home page:</a:t>
            </a:r>
          </a:p>
          <a:p>
            <a:endParaRPr lang="en-US" sz="36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r>
              <a:rPr lang="en-US" sz="2800" dirty="0">
                <a:latin typeface="Times New Roman" panose="02020603050405020304" pitchFamily="18" charset="0"/>
                <a:cs typeface="Times New Roman" panose="02020603050405020304" pitchFamily="18" charset="0"/>
              </a:rPr>
              <a:t>This is the </a:t>
            </a:r>
            <a:r>
              <a:rPr lang="en-US" sz="2800" b="1" dirty="0" err="1">
                <a:latin typeface="Times New Roman" panose="02020603050405020304" pitchFamily="18" charset="0"/>
                <a:cs typeface="Times New Roman" panose="02020603050405020304" pitchFamily="18" charset="0"/>
              </a:rPr>
              <a:t>TechStore</a:t>
            </a:r>
            <a:r>
              <a:rPr lang="en-US" sz="2800" dirty="0">
                <a:latin typeface="Times New Roman" panose="02020603050405020304" pitchFamily="18" charset="0"/>
                <a:cs typeface="Times New Roman" panose="02020603050405020304" pitchFamily="18" charset="0"/>
              </a:rPr>
              <a:t> home page, featuring a dynamic product catalog that allows users to search, filter by categories like Mobiles or Laptops, and view item specifications. Each product card is designed with an "Add to Cart" button to trigger the JavaScript-based state management and real-time cart updates.</a:t>
            </a:r>
          </a:p>
          <a:p>
            <a:pPr marL="457200" indent="-457200">
              <a:buFontTx/>
              <a:buChar char="-"/>
            </a:pPr>
            <a:endParaRPr lang="en-IN" sz="2800" dirty="0"/>
          </a:p>
        </p:txBody>
      </p:sp>
      <p:pic>
        <p:nvPicPr>
          <p:cNvPr id="4" name="Picture 3">
            <a:extLst>
              <a:ext uri="{FF2B5EF4-FFF2-40B4-BE49-F238E27FC236}">
                <a16:creationId xmlns:a16="http://schemas.microsoft.com/office/drawing/2014/main" id="{A54DE038-661C-DDDC-4D17-A7C84B65E9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4200" y="2093723"/>
            <a:ext cx="12268200" cy="598931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790985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Search Module</a:t>
            </a:r>
            <a:r>
              <a:rPr lang="en-US" sz="2800" b="1" dirty="0">
                <a:latin typeface="Times New Roman" panose="02020603050405020304" pitchFamily="18" charset="0"/>
                <a:cs typeface="Times New Roman" panose="02020603050405020304" pitchFamily="18" charset="0"/>
              </a:rPr>
              <a: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r>
              <a:rPr lang="en-US" sz="2400" dirty="0">
                <a:latin typeface="Times New Roman" panose="02020603050405020304" pitchFamily="18" charset="0"/>
                <a:cs typeface="Times New Roman" panose="02020603050405020304" pitchFamily="18" charset="0"/>
              </a:rPr>
              <a:t>This image demonstrates the </a:t>
            </a:r>
            <a:r>
              <a:rPr lang="en-US" sz="2400" b="1" dirty="0">
                <a:latin typeface="Times New Roman" panose="02020603050405020304" pitchFamily="18" charset="0"/>
                <a:cs typeface="Times New Roman" panose="02020603050405020304" pitchFamily="18" charset="0"/>
              </a:rPr>
              <a:t>Search and Category Filtering</a:t>
            </a:r>
            <a:r>
              <a:rPr lang="en-US" sz="2400" dirty="0">
                <a:latin typeface="Times New Roman" panose="02020603050405020304" pitchFamily="18" charset="0"/>
                <a:cs typeface="Times New Roman" panose="02020603050405020304" pitchFamily="18" charset="0"/>
              </a:rPr>
              <a:t> logic in action, where the system processes user input to display relevant results. By entering "google" and selecting the "Mobiles" category, the JavaScript logic filters the product array to show only the matching Google Pixel device.</a:t>
            </a:r>
          </a:p>
        </p:txBody>
      </p:sp>
      <p:pic>
        <p:nvPicPr>
          <p:cNvPr id="4" name="Picture 3">
            <a:extLst>
              <a:ext uri="{FF2B5EF4-FFF2-40B4-BE49-F238E27FC236}">
                <a16:creationId xmlns:a16="http://schemas.microsoft.com/office/drawing/2014/main" id="{8DB9D046-DE67-2FF8-1336-A321141C7434}"/>
              </a:ext>
            </a:extLst>
          </p:cNvPr>
          <p:cNvPicPr>
            <a:picLocks noChangeAspect="1"/>
          </p:cNvPicPr>
          <p:nvPr/>
        </p:nvPicPr>
        <p:blipFill>
          <a:blip r:embed="rId3"/>
          <a:stretch>
            <a:fillRect/>
          </a:stretch>
        </p:blipFill>
        <p:spPr>
          <a:xfrm>
            <a:off x="4038600" y="2339700"/>
            <a:ext cx="9563100" cy="545426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1" y="1638300"/>
            <a:ext cx="5958480" cy="7786747"/>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Sign Up module:</a:t>
            </a:r>
          </a:p>
          <a:p>
            <a:endParaRPr lang="en-US" sz="3600" b="1"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This is the </a:t>
            </a:r>
            <a:r>
              <a:rPr lang="en-US" sz="2800" b="1" dirty="0">
                <a:latin typeface="Times New Roman" panose="02020603050405020304" pitchFamily="18" charset="0"/>
                <a:cs typeface="Times New Roman" panose="02020603050405020304" pitchFamily="18" charset="0"/>
              </a:rPr>
              <a:t>Shopping Cart Overlay</a:t>
            </a:r>
            <a:r>
              <a:rPr lang="en-US" sz="2800" dirty="0">
                <a:latin typeface="Times New Roman" panose="02020603050405020304" pitchFamily="18" charset="0"/>
                <a:cs typeface="Times New Roman" panose="02020603050405020304" pitchFamily="18" charset="0"/>
              </a:rPr>
              <a:t>, which serves as the core functional hub for the application's business logic. It utilizes JavaScript to dynamically calculate the subtotal, apply a 2.5% GST, and add delivery charges to produce the final grand total in real-time.</a:t>
            </a:r>
            <a:endParaRPr lang="en-US" sz="2800" b="1" dirty="0">
              <a:latin typeface="Times New Roman" panose="02020603050405020304" pitchFamily="18" charset="0"/>
              <a:cs typeface="Times New Roman" panose="02020603050405020304" pitchFamily="18" charset="0"/>
            </a:endParaRPr>
          </a:p>
          <a:p>
            <a:endParaRPr lang="en-US" sz="3600" b="1"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p:txBody>
      </p:sp>
      <p:pic>
        <p:nvPicPr>
          <p:cNvPr id="4" name="Picture 3">
            <a:extLst>
              <a:ext uri="{FF2B5EF4-FFF2-40B4-BE49-F238E27FC236}">
                <a16:creationId xmlns:a16="http://schemas.microsoft.com/office/drawing/2014/main" id="{FE57296C-207E-A9FF-50DA-2E85BBE1D1C7}"/>
              </a:ext>
            </a:extLst>
          </p:cNvPr>
          <p:cNvPicPr>
            <a:picLocks noChangeAspect="1"/>
          </p:cNvPicPr>
          <p:nvPr/>
        </p:nvPicPr>
        <p:blipFill>
          <a:blip r:embed="rId3"/>
          <a:srcRect l="23296" t="8330" r="24699"/>
          <a:stretch>
            <a:fillRect/>
          </a:stretch>
        </p:blipFill>
        <p:spPr>
          <a:xfrm>
            <a:off x="9025531" y="1265170"/>
            <a:ext cx="8375766" cy="853194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2"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0AACA96D-A5CE-FF93-C1EB-E6C777A22BE9}"/>
              </a:ext>
            </a:extLst>
          </p:cNvPr>
          <p:cNvSpPr txBox="1"/>
          <p:nvPr/>
        </p:nvSpPr>
        <p:spPr>
          <a:xfrm>
            <a:off x="2074166" y="2230793"/>
            <a:ext cx="9305941" cy="6063198"/>
          </a:xfrm>
          <a:prstGeom prst="rect">
            <a:avLst/>
          </a:prstGeom>
          <a:noFill/>
        </p:spPr>
        <p:txBody>
          <a:bodyPr wrap="square">
            <a:spAutoFit/>
          </a:bodyPr>
          <a:lstStyle/>
          <a:p>
            <a:pPr>
              <a:buNone/>
            </a:pPr>
            <a:r>
              <a:rPr lang="en-US" sz="3200" b="1" dirty="0">
                <a:latin typeface="Times New Roman" panose="02020603050405020304" pitchFamily="18" charset="0"/>
                <a:cs typeface="Times New Roman" panose="02020603050405020304" pitchFamily="18" charset="0"/>
              </a:rPr>
              <a:t>ADVANTAGES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Centralized system for recruitment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Faster and more efficient hiring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Easy access to job opportunities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Secure data handling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Scalable and flexible architecture</a:t>
            </a:r>
          </a:p>
          <a:p>
            <a:pPr>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LIMITATIONS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Requires stable internet connection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Initial development complexity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Security risks if not properly implemented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Dependency on server availability</a:t>
            </a:r>
          </a:p>
          <a:p>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1135</Words>
  <Application>Microsoft Office PowerPoint</Application>
  <PresentationFormat>Custom</PresentationFormat>
  <Paragraphs>330</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Cambria</vt:lpstr>
      <vt:lpstr>Gotham</vt:lpstr>
      <vt:lpstr>Arial</vt:lpstr>
      <vt:lpstr>Times New Roman</vt:lpstr>
      <vt:lpstr>Bookman Old Style</vt:lpstr>
      <vt:lpstr>Calibri</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RUTHLESS .Gadjet</dc:creator>
  <cp:lastModifiedBy>chenchu bharath</cp:lastModifiedBy>
  <cp:revision>16</cp:revision>
  <dcterms:created xsi:type="dcterms:W3CDTF">2006-08-16T00:00:00Z</dcterms:created>
  <dcterms:modified xsi:type="dcterms:W3CDTF">2026-04-23T23:36:43Z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1D7B529A30DC4B05A9321937424E6F5A_12</vt:lpwstr>
  </property>
  <property fmtid="{D5CDD505-2E9C-101B-9397-08002B2CF9AE}" pid="3" name="KSOProductBuildVer">
    <vt:lpwstr>1033-12.2.0.23196</vt:lpwstr>
  </property>
</Properties>
</file>